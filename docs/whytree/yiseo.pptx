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3F6B4F"/>
                </a:solidFill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01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</a:rPr>
              <a:t>이름 또는 별명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1371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C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김이서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2011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날짜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18520" y="137160"/>
            <a:ext cx="10972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CC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2026-10-29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48" y="685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F6B4F"/>
                </a:solidFill>
              </a:rPr>
              <a:t>13조 SDR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2106" y="1600165"/>
            <a:ext cx="2087165" cy="63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이익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985" y="2806083"/>
            <a:ext cx="2087165" cy="63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같은 인원으로</a:t>
            </a:r>
          </a:p>
          <a:p>
            <a:pPr algn="ctr"/>
            <a:r>
              <a:rPr sz="1500" b="1">
                <a:solidFill>
                  <a:srgbClr val="333333"/>
                </a:solidFill>
              </a:rPr>
              <a:t>더 많은 리드 커버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5897" y="2806083"/>
            <a:ext cx="2093791" cy="63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어카운트 기회 전환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2299" y="4012001"/>
            <a:ext cx="1928143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SDR 생산성 향상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623" y="4012001"/>
            <a:ext cx="1769120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고품질 리드 선별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7265" y="4012001"/>
            <a:ext cx="1610098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리드 데이터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447" y="5383566"/>
            <a:ext cx="1775746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중복 리드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7972" y="5383566"/>
            <a:ext cx="1610098" cy="642714"/>
          </a:xfrm>
          <a:prstGeom prst="rect">
            <a:avLst/>
          </a:prstGeom>
          <a:solidFill>
            <a:srgbClr val="F5EBDF"/>
          </a:solidFill>
          <a:ln w="25400">
            <a:solidFill>
              <a:srgbClr val="C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리드 스코어링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3474" y="5383566"/>
            <a:ext cx="1603472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리드 배분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2595" y="5383566"/>
            <a:ext cx="1603472" cy="642714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자동 메일 발송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601" y="5410070"/>
            <a:ext cx="2710001" cy="61621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33333"/>
                </a:solidFill>
              </a:rPr>
              <a:t>접촉 이력 통합 요약</a:t>
            </a:r>
          </a:p>
        </p:txBody>
      </p:sp>
      <p:cxnSp>
        <p:nvCxnSpPr>
          <p:cNvPr id="19" name="Connector 18"/>
          <p:cNvCxnSpPr>
            <a:stCxn id="14" idx="0"/>
            <a:endCxn id="11" idx="2"/>
          </p:cNvCxnSpPr>
          <p:nvPr/>
        </p:nvCxnSpPr>
        <p:spPr>
          <a:xfrm flipV="1">
            <a:off x="1411320" y="4654715"/>
            <a:ext cx="805050" cy="728851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5" idx="0"/>
            <a:endCxn id="11" idx="2"/>
          </p:cNvCxnSpPr>
          <p:nvPr/>
        </p:nvCxnSpPr>
        <p:spPr>
          <a:xfrm flipH="1" flipV="1">
            <a:off x="2216370" y="4654715"/>
            <a:ext cx="1086651" cy="728851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5" idx="0"/>
            <a:endCxn id="12" idx="2"/>
          </p:cNvCxnSpPr>
          <p:nvPr/>
        </p:nvCxnSpPr>
        <p:spPr>
          <a:xfrm flipV="1">
            <a:off x="3303021" y="4654715"/>
            <a:ext cx="1166162" cy="728851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6" idx="0"/>
            <a:endCxn id="12" idx="2"/>
          </p:cNvCxnSpPr>
          <p:nvPr/>
        </p:nvCxnSpPr>
        <p:spPr>
          <a:xfrm flipH="1" flipV="1">
            <a:off x="4469183" y="4654715"/>
            <a:ext cx="646027" cy="728851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7" idx="0"/>
            <a:endCxn id="11" idx="2"/>
          </p:cNvCxnSpPr>
          <p:nvPr/>
        </p:nvCxnSpPr>
        <p:spPr>
          <a:xfrm flipH="1" flipV="1">
            <a:off x="2216370" y="4654715"/>
            <a:ext cx="4667961" cy="728851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8" idx="0"/>
            <a:endCxn id="13" idx="2"/>
          </p:cNvCxnSpPr>
          <p:nvPr/>
        </p:nvCxnSpPr>
        <p:spPr>
          <a:xfrm flipH="1" flipV="1">
            <a:off x="7212314" y="4654715"/>
            <a:ext cx="2067287" cy="755355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1" idx="0"/>
            <a:endCxn id="9" idx="2"/>
          </p:cNvCxnSpPr>
          <p:nvPr/>
        </p:nvCxnSpPr>
        <p:spPr>
          <a:xfrm flipV="1">
            <a:off x="2216370" y="3442171"/>
            <a:ext cx="3220197" cy="569830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2" idx="0"/>
            <a:endCxn id="10" idx="2"/>
          </p:cNvCxnSpPr>
          <p:nvPr/>
        </p:nvCxnSpPr>
        <p:spPr>
          <a:xfrm flipV="1">
            <a:off x="4469183" y="3442171"/>
            <a:ext cx="4833609" cy="569830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3" idx="0"/>
            <a:endCxn id="10" idx="2"/>
          </p:cNvCxnSpPr>
          <p:nvPr/>
        </p:nvCxnSpPr>
        <p:spPr>
          <a:xfrm flipV="1">
            <a:off x="7212314" y="3442171"/>
            <a:ext cx="2090478" cy="569830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9" idx="0"/>
            <a:endCxn id="8" idx="2"/>
          </p:cNvCxnSpPr>
          <p:nvPr/>
        </p:nvCxnSpPr>
        <p:spPr>
          <a:xfrm flipV="1">
            <a:off x="5436567" y="2236253"/>
            <a:ext cx="1769121" cy="569830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0" idx="0"/>
            <a:endCxn id="8" idx="2"/>
          </p:cNvCxnSpPr>
          <p:nvPr/>
        </p:nvCxnSpPr>
        <p:spPr>
          <a:xfrm flipH="1" flipV="1">
            <a:off x="7205688" y="2236253"/>
            <a:ext cx="2097104" cy="569830"/>
          </a:xfrm>
          <a:prstGeom prst="line">
            <a:avLst/>
          </a:prstGeom>
          <a:ln w="25400">
            <a:solidFill>
              <a:srgbClr val="879E8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